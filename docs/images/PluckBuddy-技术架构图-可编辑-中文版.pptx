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972800" cy="1069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 snapToObjects="1">
      <p:cViewPr varScale="1">
        <p:scale>
          <a:sx n="69" d="100"/>
          <a:sy n="69" d="100"/>
        </p:scale>
        <p:origin x="2512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055" y="123886"/>
            <a:ext cx="10158689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20" b="0">
                <a:solidFill>
                  <a:srgbClr val="1A1A1A"/>
                </a:solidFill>
                <a:latin typeface="Times New Roman"/>
                <a:ea typeface="宋体"/>
              </a:rPr>
              <a:t>图 1  PluckBuddy 端侧全离线技术架构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7055" y="654828"/>
            <a:ext cx="10158689" cy="1769806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203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0941" y="752167"/>
            <a:ext cx="1274260" cy="336263"/>
          </a:xfrm>
          <a:prstGeom prst="roundRect">
            <a:avLst>
              <a:gd name="adj" fmla="val 18421"/>
            </a:avLst>
          </a:prstGeom>
          <a:solidFill>
            <a:srgbClr val="2C6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41" b="0">
                <a:solidFill>
                  <a:srgbClr val="FFFFFF"/>
                </a:solidFill>
                <a:latin typeface="Times New Roman"/>
                <a:ea typeface="宋体"/>
              </a:rPr>
              <a:t>1. 采集层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4828" y="1106129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麦克风 AVAudioEngine：48 kHz 实时音频流，4096 点缓冲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828" y="1460090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摄像头 AVCaptureSession：CVPixelBuffer 逐帧回调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828" y="1814051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设备：iPhone / iPad 通用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7055" y="2583917"/>
            <a:ext cx="10158689" cy="2477729"/>
          </a:xfrm>
          <a:prstGeom prst="roundRect">
            <a:avLst>
              <a:gd name="adj" fmla="val 4285"/>
            </a:avLst>
          </a:prstGeom>
          <a:solidFill>
            <a:srgbClr val="F8F9FB"/>
          </a:solidFill>
          <a:ln w="203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0941" y="2681256"/>
            <a:ext cx="1716712" cy="336263"/>
          </a:xfrm>
          <a:prstGeom prst="roundRect">
            <a:avLst>
              <a:gd name="adj" fmla="val 18421"/>
            </a:avLst>
          </a:prstGeom>
          <a:solidFill>
            <a:srgbClr val="7A3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41" b="0">
                <a:solidFill>
                  <a:srgbClr val="FFFFFF"/>
                </a:solidFill>
                <a:latin typeface="Times New Roman"/>
                <a:ea typeface="宋体"/>
              </a:rPr>
              <a:t>2. 信号处理层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828" y="3035218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音频 Accelerate/vDSP：FFT 变换 vDSP_DFT_zrop，提取基频、谐波比、频谱质心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828" y="3389179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　　起音检测 + 包络衰减定位拨弦音头，RMS 与峰值双阈值过滤噪声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828" y="3743140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节奏技法：弹拨事件检测 → BPM 估计；轮指、扫弦各自判别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828" y="4097101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手型 Vision：VNDetectHumanHandPoseRequest 提取 21 个手部关键点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828" y="4451063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　　简化卡尔曼滤波平滑降抖，计算虎口角度、手腕高度、手型开合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7055" y="5220929"/>
            <a:ext cx="10158689" cy="1415845"/>
          </a:xfrm>
          <a:prstGeom prst="roundRect">
            <a:avLst>
              <a:gd name="adj" fmla="val 7500"/>
            </a:avLst>
          </a:prstGeom>
          <a:solidFill>
            <a:srgbClr val="F8F9FB"/>
          </a:solidFill>
          <a:ln w="203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0941" y="5318268"/>
            <a:ext cx="1274260" cy="336263"/>
          </a:xfrm>
          <a:prstGeom prst="roundRect">
            <a:avLst>
              <a:gd name="adj" fmla="val 18421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41" b="0">
                <a:solidFill>
                  <a:srgbClr val="FFFFFF"/>
                </a:solidFill>
                <a:latin typeface="Times New Roman"/>
                <a:ea typeface="宋体"/>
              </a:rPr>
              <a:t>3. 模型层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28" y="5672229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Core ML 搭载 Create ML 自训声音分类模型 PipaSoundClassifier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28" y="6026190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16 kHz 输入，四分类（琵琶 / 其它乐器 / 人声 / 环境噪声），本地推理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7055" y="6796056"/>
            <a:ext cx="10158689" cy="1769806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203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0941" y="6893396"/>
            <a:ext cx="1274260" cy="336263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41" b="0">
                <a:solidFill>
                  <a:srgbClr val="FFFFFF"/>
                </a:solidFill>
                <a:latin typeface="Times New Roman"/>
                <a:ea typeface="宋体"/>
              </a:rPr>
              <a:t>4. 评估层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828" y="7247357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技法识别：音视频双通道交叉验证，识别弹挑 / 轮指 / 扫弦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828" y="7601318"/>
            <a:ext cx="4809009" cy="2894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 dirty="0" err="1">
                <a:solidFill>
                  <a:srgbClr val="262626"/>
                </a:solidFill>
                <a:latin typeface="Times New Roman"/>
                <a:ea typeface="宋体"/>
              </a:rPr>
              <a:t>演奏四维</a:t>
            </a:r>
            <a:r>
              <a:rPr lang="zh-CN" altLang="en-US" sz="1881" b="0" dirty="0">
                <a:solidFill>
                  <a:srgbClr val="262626"/>
                </a:solidFill>
                <a:latin typeface="Times New Roman"/>
                <a:ea typeface="宋体"/>
              </a:rPr>
              <a:t>指标</a:t>
            </a:r>
            <a:r>
              <a:rPr sz="1881" b="0" dirty="0">
                <a:solidFill>
                  <a:srgbClr val="262626"/>
                </a:solidFill>
                <a:latin typeface="Times New Roman"/>
                <a:ea typeface="宋体"/>
              </a:rPr>
              <a:t>：</a:t>
            </a:r>
            <a:r>
              <a:rPr sz="1881" b="0" dirty="0" err="1">
                <a:solidFill>
                  <a:srgbClr val="262626"/>
                </a:solidFill>
                <a:latin typeface="Times New Roman"/>
                <a:ea typeface="宋体"/>
              </a:rPr>
              <a:t>速度、稳定性、均匀度、力度</a:t>
            </a:r>
            <a:endParaRPr sz="1881" b="0" dirty="0">
              <a:solidFill>
                <a:srgbClr val="262626"/>
              </a:solidFill>
              <a:latin typeface="Times New Roman"/>
              <a:ea typeface="宋体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4828" y="7955280"/>
            <a:ext cx="8287525" cy="2894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 dirty="0" err="1">
                <a:solidFill>
                  <a:srgbClr val="262626"/>
                </a:solidFill>
                <a:latin typeface="Times New Roman"/>
                <a:ea typeface="宋体"/>
              </a:rPr>
              <a:t>手型四维</a:t>
            </a:r>
            <a:r>
              <a:rPr lang="zh-CN" altLang="en-US" sz="1881" b="0" dirty="0">
                <a:solidFill>
                  <a:srgbClr val="262626"/>
                </a:solidFill>
                <a:latin typeface="Times New Roman"/>
                <a:ea typeface="宋体"/>
              </a:rPr>
              <a:t>指标</a:t>
            </a:r>
            <a:r>
              <a:rPr sz="1881" b="0" dirty="0">
                <a:solidFill>
                  <a:srgbClr val="262626"/>
                </a:solidFill>
                <a:latin typeface="Times New Roman"/>
                <a:ea typeface="宋体"/>
              </a:rPr>
              <a:t>：</a:t>
            </a:r>
            <a:r>
              <a:rPr sz="1881" b="0" dirty="0" err="1">
                <a:solidFill>
                  <a:srgbClr val="262626"/>
                </a:solidFill>
                <a:latin typeface="Times New Roman"/>
                <a:ea typeface="宋体"/>
              </a:rPr>
              <a:t>虎口角度、手腕高度、手型开合、触弦位置</a:t>
            </a:r>
            <a:r>
              <a:rPr sz="1881" b="0" dirty="0">
                <a:solidFill>
                  <a:srgbClr val="262626"/>
                </a:solidFill>
                <a:latin typeface="Times New Roman"/>
                <a:ea typeface="宋体"/>
              </a:rPr>
              <a:t> → </a:t>
            </a:r>
            <a:r>
              <a:rPr sz="1881" b="0" dirty="0" err="1">
                <a:solidFill>
                  <a:srgbClr val="262626"/>
                </a:solidFill>
                <a:latin typeface="Times New Roman"/>
                <a:ea typeface="宋体"/>
              </a:rPr>
              <a:t>逐项改进提示</a:t>
            </a:r>
            <a:endParaRPr sz="1881" b="0" dirty="0">
              <a:solidFill>
                <a:srgbClr val="262626"/>
              </a:solidFill>
              <a:latin typeface="Times New Roman"/>
              <a:ea typeface="宋体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07055" y="8725145"/>
            <a:ext cx="10158689" cy="1415845"/>
          </a:xfrm>
          <a:prstGeom prst="roundRect">
            <a:avLst>
              <a:gd name="adj" fmla="val 7500"/>
            </a:avLst>
          </a:prstGeom>
          <a:solidFill>
            <a:srgbClr val="F8F9FB"/>
          </a:solidFill>
          <a:ln w="203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30941" y="8822485"/>
            <a:ext cx="1274260" cy="336263"/>
          </a:xfrm>
          <a:prstGeom prst="roundRect">
            <a:avLst>
              <a:gd name="adj" fmla="val 18421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41" b="0">
                <a:solidFill>
                  <a:srgbClr val="FFFFFF"/>
                </a:solidFill>
                <a:latin typeface="Times New Roman"/>
                <a:ea typeface="宋体"/>
              </a:rPr>
              <a:t>5. 应用层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828" y="9176446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SwiftUI：智能调音 · 智能指法教练 · 游戏陪练 · 我的成绩 · 社交广场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828" y="9530407"/>
            <a:ext cx="10264877" cy="353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81" b="0">
                <a:solidFill>
                  <a:srgbClr val="262626"/>
                </a:solidFill>
                <a:latin typeface="Times New Roman"/>
                <a:ea typeface="宋体"/>
              </a:rPr>
              <a:t>CoreData 持久化 · Charts 成长曲线 · Lottie 游戏化动画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055" y="10300273"/>
            <a:ext cx="10158689" cy="3008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93" b="0">
                <a:solidFill>
                  <a:srgbClr val="5A5A5A"/>
                </a:solidFill>
                <a:latin typeface="Times New Roman"/>
                <a:ea typeface="宋体"/>
              </a:rPr>
              <a:t>Swift 源码 48 个文件 / 约 13,000 行 · 全部运算在设备本地完成，音视频数据不出设备、不上传云端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</Words>
  <Application>Microsoft Macintosh PowerPoint</Application>
  <PresentationFormat>自定义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355791322@qq.com</cp:lastModifiedBy>
  <cp:revision>2</cp:revision>
  <dcterms:created xsi:type="dcterms:W3CDTF">2013-01-27T09:14:16Z</dcterms:created>
  <dcterms:modified xsi:type="dcterms:W3CDTF">2026-09-29T00:59:32Z</dcterms:modified>
  <cp:category/>
</cp:coreProperties>
</file>